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3" r:id="rId13"/>
    <p:sldId id="272" r:id="rId14"/>
    <p:sldId id="270" r:id="rId15"/>
    <p:sldId id="271" r:id="rId16"/>
    <p:sldId id="267" r:id="rId17"/>
    <p:sldId id="268" r:id="rId18"/>
    <p:sldId id="269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2003"/>
    <a:srgbClr val="032F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677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3BA76-A4B9-4BE5-96B8-C2996C2F1C2D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BB8B5-D38E-4219-A7F3-F34A183BC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7815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3BA76-A4B9-4BE5-96B8-C2996C2F1C2D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386BB8B5-D38E-4219-A7F3-F34A183BC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8666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3BA76-A4B9-4BE5-96B8-C2996C2F1C2D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BB8B5-D38E-4219-A7F3-F34A183BC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013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3BA76-A4B9-4BE5-96B8-C2996C2F1C2D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BB8B5-D38E-4219-A7F3-F34A183BC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72190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3BA76-A4B9-4BE5-96B8-C2996C2F1C2D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BB8B5-D38E-4219-A7F3-F34A183BC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28989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3BA76-A4B9-4BE5-96B8-C2996C2F1C2D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BB8B5-D38E-4219-A7F3-F34A183BC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7108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3BA76-A4B9-4BE5-96B8-C2996C2F1C2D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BB8B5-D38E-4219-A7F3-F34A183BC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423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3BA76-A4B9-4BE5-96B8-C2996C2F1C2D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BB8B5-D38E-4219-A7F3-F34A183BC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8626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3BA76-A4B9-4BE5-96B8-C2996C2F1C2D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BB8B5-D38E-4219-A7F3-F34A183BC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7261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3BA76-A4B9-4BE5-96B8-C2996C2F1C2D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BB8B5-D38E-4219-A7F3-F34A183BC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1740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3BA76-A4B9-4BE5-96B8-C2996C2F1C2D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BB8B5-D38E-4219-A7F3-F34A183BC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0997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3BA76-A4B9-4BE5-96B8-C2996C2F1C2D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BB8B5-D38E-4219-A7F3-F34A183BC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55020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3BA76-A4B9-4BE5-96B8-C2996C2F1C2D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BB8B5-D38E-4219-A7F3-F34A183BC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99570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3BA76-A4B9-4BE5-96B8-C2996C2F1C2D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BB8B5-D38E-4219-A7F3-F34A183BC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1113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3BA76-A4B9-4BE5-96B8-C2996C2F1C2D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BB8B5-D38E-4219-A7F3-F34A183BC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6954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3BA76-A4B9-4BE5-96B8-C2996C2F1C2D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BB8B5-D38E-4219-A7F3-F34A183BC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6996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3BA76-A4B9-4BE5-96B8-C2996C2F1C2D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BB8B5-D38E-4219-A7F3-F34A183BC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4750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3BA76-A4B9-4BE5-96B8-C2996C2F1C2D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BB8B5-D38E-4219-A7F3-F34A183BC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2029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133BA76-A4B9-4BE5-96B8-C2996C2F1C2D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86BB8B5-D38E-4219-A7F3-F34A183BC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577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  <p:sldLayoutId id="2147483713" r:id="rId16"/>
    <p:sldLayoutId id="2147483714" r:id="rId17"/>
    <p:sldLayoutId id="2147483715" r:id="rId18"/>
  </p:sldLayoutIdLst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0A963-08EF-48E8-961E-7E698629E5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12658" y="268940"/>
            <a:ext cx="6897575" cy="3160059"/>
          </a:xfrm>
        </p:spPr>
        <p:txBody>
          <a:bodyPr>
            <a:normAutofit/>
          </a:bodyPr>
          <a:lstStyle/>
          <a:p>
            <a:pPr algn="l"/>
            <a:br>
              <a:rPr lang="en-US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8800" dirty="0">
              <a:solidFill>
                <a:schemeClr val="tx1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CB67CB-A6DC-40A2-8EB0-E7BD580E1E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0212" y="3428999"/>
            <a:ext cx="6530022" cy="2985248"/>
          </a:xfrm>
        </p:spPr>
        <p:txBody>
          <a:bodyPr>
            <a:normAutofit/>
          </a:bodyPr>
          <a:lstStyle/>
          <a:p>
            <a:pPr algn="l"/>
            <a:endParaRPr lang="en-US" sz="3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5A3210-57BE-48BE-AE43-05036AB4BB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9882" y="2685299"/>
            <a:ext cx="1891702" cy="963833"/>
          </a:xfrm>
          <a:prstGeom prst="rect">
            <a:avLst/>
          </a:pr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2562240-233E-4B61-9633-89A325A0BA16}"/>
              </a:ext>
            </a:extLst>
          </p:cNvPr>
          <p:cNvSpPr/>
          <p:nvPr/>
        </p:nvSpPr>
        <p:spPr>
          <a:xfrm>
            <a:off x="5109882" y="3428999"/>
            <a:ext cx="7082118" cy="2985248"/>
          </a:xfrm>
          <a:prstGeom prst="rect">
            <a:avLst/>
          </a:prstGeom>
          <a:solidFill>
            <a:schemeClr val="bg1">
              <a:lumMod val="60000"/>
              <a:lumOff val="40000"/>
            </a:schemeClr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  <a:sp3d extrusionH="57150">
              <a:bevelT w="82550" h="38100" prst="coolSlant"/>
            </a:sp3d>
          </a:bodyPr>
          <a:lstStyle/>
          <a:p>
            <a:pPr marL="0" marR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endParaRPr lang="en-US" sz="2800" b="1" kern="1200" dirty="0">
              <a:ln>
                <a:noFill/>
              </a:ln>
              <a:solidFill>
                <a:srgbClr val="003300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marR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sz="2800" b="1" kern="1200" dirty="0">
                <a:ln>
                  <a:noFill/>
                </a:ln>
                <a:solidFill>
                  <a:srgbClr val="0033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CAPSTONE PROJECT REPORT </a:t>
            </a:r>
            <a:endParaRPr lang="en-US" sz="28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marR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sz="2800" b="1" kern="1200" dirty="0">
                <a:ln>
                  <a:noFill/>
                </a:ln>
                <a:solidFill>
                  <a:srgbClr val="0033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BY</a:t>
            </a:r>
            <a:endParaRPr lang="en-US" sz="28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marR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sz="2800" b="1" kern="1200" dirty="0">
                <a:ln>
                  <a:noFill/>
                </a:ln>
                <a:solidFill>
                  <a:srgbClr val="0033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GROUP 21, DATA ANALYTICS TRACK, TECHCRUSH</a:t>
            </a:r>
            <a:endParaRPr lang="en-US" sz="28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marR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sz="2800" b="1" kern="1200" dirty="0">
                <a:ln>
                  <a:noFill/>
                </a:ln>
                <a:solidFill>
                  <a:srgbClr val="0033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JUNE, 2025.</a:t>
            </a:r>
            <a:endParaRPr lang="en-US" sz="28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l"/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A51D6BC-B7FB-48FF-8C28-82533424DA2E}"/>
              </a:ext>
            </a:extLst>
          </p:cNvPr>
          <p:cNvSpPr/>
          <p:nvPr/>
        </p:nvSpPr>
        <p:spPr>
          <a:xfrm>
            <a:off x="5109882" y="-6163"/>
            <a:ext cx="7082118" cy="2718241"/>
          </a:xfrm>
          <a:prstGeom prst="rect">
            <a:avLst/>
          </a:prstGeom>
          <a:solidFill>
            <a:schemeClr val="bg1">
              <a:lumMod val="60000"/>
              <a:lumOff val="40000"/>
            </a:schemeClr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  <a:sp3d extrusionH="57150">
              <a:bevelT w="82550" h="38100" prst="coolSlant"/>
            </a:sp3d>
          </a:bodyPr>
          <a:lstStyle/>
          <a:p>
            <a:pPr algn="l"/>
            <a:endParaRPr lang="en-US" sz="3600" b="1" kern="1200" dirty="0">
              <a:ln>
                <a:noFill/>
              </a:ln>
              <a:solidFill>
                <a:srgbClr val="830303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l"/>
            <a:r>
              <a:rPr lang="en-US" sz="3600" b="1" kern="1200" dirty="0">
                <a:solidFill>
                  <a:srgbClr val="83030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ROAD TRAFFIC ACCIDENT HOTSPOT DETECTION AND SAFETY ANALYSIS IN NIGERIA</a:t>
            </a:r>
            <a:endParaRPr lang="en-US" sz="3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83593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B191A-105B-4E30-8923-3378A6B9D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8123" y="458715"/>
            <a:ext cx="10018713" cy="1604681"/>
          </a:xfrm>
        </p:spPr>
        <p:txBody>
          <a:bodyPr>
            <a:normAutofit/>
          </a:bodyPr>
          <a:lstStyle/>
          <a:p>
            <a:r>
              <a:rPr lang="en-US" sz="36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EXECUTIVE SUMMARY</a:t>
            </a: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5FD77E-92B2-4151-8B7A-5A43BDE9A21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29487" y="1773405"/>
            <a:ext cx="9933025" cy="3311189"/>
          </a:xfrm>
        </p:spPr>
        <p:txBody>
          <a:bodyPr/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rgbClr val="02200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This project analyzes road traffic accidents across Nigeria using real data from the Federal Road Safety Corps (FRSC).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rgbClr val="02200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It uncovers accident-prone states, severity trends, and common causes.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rgbClr val="02200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Through SQL-based analysis and Power BI visualizations, this project delivers key insights and proposes data-driven safety recommendations to reduce accidents and save lives.</a:t>
            </a:r>
          </a:p>
          <a:p>
            <a:endParaRPr lang="en-US" dirty="0"/>
          </a:p>
        </p:txBody>
      </p:sp>
      <p:pic>
        <p:nvPicPr>
          <p:cNvPr id="4" name="Picture 3" descr="A computer screen with traffic signs and a car&#10;&#10;AI-generated content may be incorrect.">
            <a:extLst>
              <a:ext uri="{FF2B5EF4-FFF2-40B4-BE49-F238E27FC236}">
                <a16:creationId xmlns:a16="http://schemas.microsoft.com/office/drawing/2014/main" id="{B0FEB9A9-DC0C-406D-B0A9-A4CDCBC685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82"/>
          <a:stretch>
            <a:fillRect/>
          </a:stretch>
        </p:blipFill>
        <p:spPr>
          <a:xfrm>
            <a:off x="4317475" y="4629706"/>
            <a:ext cx="3557047" cy="2228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1406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CF3AA-5786-4C26-95EF-2E6463E57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8306" y="958980"/>
            <a:ext cx="9100483" cy="1048870"/>
          </a:xfrm>
        </p:spPr>
        <p:txBody>
          <a:bodyPr>
            <a:normAutofit/>
          </a:bodyPr>
          <a:lstStyle/>
          <a:p>
            <a:r>
              <a:rPr lang="en-US" sz="36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ACKNOWLEDGEMENT</a:t>
            </a:r>
            <a:endParaRPr lang="en-US" sz="5400" b="1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FC162-2D7E-462F-AA4F-C0D149D0D99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6643" y="1951230"/>
            <a:ext cx="10018713" cy="3311189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ln w="0"/>
                <a:solidFill>
                  <a:srgbClr val="022003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 express gratitude to God for His grace and to our mentors, Ms. Mary </a:t>
            </a:r>
            <a:r>
              <a:rPr lang="en-US" sz="1800" dirty="0" err="1">
                <a:ln w="0"/>
                <a:solidFill>
                  <a:srgbClr val="022003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Oladokun</a:t>
            </a:r>
            <a:r>
              <a:rPr lang="en-US" sz="1800" dirty="0">
                <a:ln w="0"/>
                <a:solidFill>
                  <a:srgbClr val="022003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Ms. Grace </a:t>
            </a:r>
            <a:r>
              <a:rPr lang="en-US" sz="1800" dirty="0" err="1">
                <a:ln w="0"/>
                <a:solidFill>
                  <a:srgbClr val="022003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Emeruwa</a:t>
            </a:r>
            <a:r>
              <a:rPr lang="en-US" sz="1800" dirty="0">
                <a:ln w="0"/>
                <a:solidFill>
                  <a:srgbClr val="022003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and Mr. </a:t>
            </a:r>
            <a:r>
              <a:rPr lang="en-US" sz="1800" dirty="0" err="1">
                <a:ln w="0"/>
                <a:solidFill>
                  <a:srgbClr val="022003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Olaniyi</a:t>
            </a:r>
            <a:r>
              <a:rPr lang="en-US" sz="1800" dirty="0">
                <a:ln w="0"/>
                <a:solidFill>
                  <a:srgbClr val="022003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800" dirty="0" err="1">
                <a:ln w="0"/>
                <a:solidFill>
                  <a:srgbClr val="022003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Eluwole</a:t>
            </a:r>
            <a:r>
              <a:rPr lang="en-US" sz="1800" dirty="0">
                <a:ln w="0"/>
                <a:solidFill>
                  <a:srgbClr val="022003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Special thanks to the FRSC for providing public datasets. Appreciation goes to all team members who contributed through data cleaning, SQL querying, dashboard creation, and reporting.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70983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6D0E3-D0D2-4A95-A286-6A8EAAFCF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313329"/>
          </a:xfrm>
        </p:spPr>
        <p:txBody>
          <a:bodyPr>
            <a:normAutofit/>
          </a:bodyPr>
          <a:lstStyle/>
          <a:p>
            <a:r>
              <a:rPr lang="en-US" sz="36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36F857-789E-4C61-B858-28D82779479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10235" y="2063396"/>
            <a:ext cx="9870272" cy="3311189"/>
          </a:xfrm>
        </p:spPr>
        <p:txBody>
          <a:bodyPr/>
          <a:lstStyle/>
          <a:p>
            <a:pPr marR="0" lvl="0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1800" dirty="0">
                <a:solidFill>
                  <a:srgbClr val="02200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Analyze accident frequency and severity by state.</a:t>
            </a:r>
          </a:p>
          <a:p>
            <a:pPr marR="0" lvl="0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1800" dirty="0">
                <a:solidFill>
                  <a:srgbClr val="02200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Identify trends based on accident severity levels.</a:t>
            </a:r>
          </a:p>
          <a:p>
            <a:pPr marR="0" lvl="0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1800" dirty="0">
                <a:solidFill>
                  <a:srgbClr val="02200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Determine the most common causes of road accidents.</a:t>
            </a:r>
          </a:p>
          <a:p>
            <a:pPr marR="0" lvl="0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1800" dirty="0">
                <a:solidFill>
                  <a:srgbClr val="02200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Visualize casualties and people involved using dashboards.</a:t>
            </a:r>
          </a:p>
          <a:p>
            <a:pPr marR="0" lvl="0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1800" dirty="0">
                <a:solidFill>
                  <a:srgbClr val="02200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Recommend actionable safety interventions</a:t>
            </a:r>
            <a:r>
              <a:rPr lang="en-US" sz="1800" dirty="0">
                <a:solidFill>
                  <a:srgbClr val="02200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90726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F7F33-5507-4E16-AD69-3662EEADF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582105"/>
            <a:ext cx="10018713" cy="1752599"/>
          </a:xfrm>
        </p:spPr>
        <p:txBody>
          <a:bodyPr>
            <a:normAutofit/>
          </a:bodyPr>
          <a:lstStyle/>
          <a:p>
            <a:r>
              <a:rPr lang="en-US" sz="36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5ECFF-396F-406C-AE65-CCC29B6DF44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33970" y="2438399"/>
            <a:ext cx="9924060" cy="3311189"/>
          </a:xfrm>
        </p:spPr>
        <p:txBody>
          <a:bodyPr/>
          <a:lstStyle/>
          <a:p>
            <a:pPr marL="0" marR="0" indent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02200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Datasets Used:</a:t>
            </a:r>
            <a:endParaRPr lang="en-US" sz="1800" dirty="0">
              <a:solidFill>
                <a:srgbClr val="022003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R="0" lvl="0">
              <a:lnSpc>
                <a:spcPct val="150000"/>
              </a:lnSpc>
              <a:buSzPct val="15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1800" b="1" dirty="0">
                <a:solidFill>
                  <a:srgbClr val="02200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Road Accident Severity Data (Q1 2023 – Q3 2024).</a:t>
            </a:r>
            <a:endParaRPr lang="en-US" sz="1800" dirty="0">
              <a:solidFill>
                <a:srgbClr val="022003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R="0" lvl="0">
              <a:lnSpc>
                <a:spcPct val="150000"/>
              </a:lnSpc>
              <a:buSzPct val="15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1800" b="1" dirty="0">
                <a:solidFill>
                  <a:srgbClr val="02200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Road Accident Causative Factors Data (Q1 2023 – Q3 2024).</a:t>
            </a:r>
            <a:endParaRPr lang="en-US" sz="1800" dirty="0">
              <a:solidFill>
                <a:srgbClr val="022003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marR="0" indent="0">
              <a:lnSpc>
                <a:spcPct val="150000"/>
              </a:lnSpc>
              <a:buNone/>
            </a:pPr>
            <a:endParaRPr lang="en-US" sz="1800" b="1" dirty="0">
              <a:solidFill>
                <a:srgbClr val="022003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marR="0" indent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02200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Source:</a:t>
            </a:r>
            <a:r>
              <a:rPr lang="en-US" sz="1800" dirty="0">
                <a:solidFill>
                  <a:srgbClr val="02200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Federal Road Safety Corps (via NBS Public Dataset).</a:t>
            </a:r>
          </a:p>
          <a:p>
            <a:pPr marL="0" marR="0" indent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02200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Key Features:</a:t>
            </a:r>
            <a:r>
              <a:rPr lang="en-US" sz="1800" dirty="0">
                <a:solidFill>
                  <a:srgbClr val="02200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State, Quarter, Year, Severity levels, Casualties, and Causes.</a:t>
            </a:r>
          </a:p>
          <a:p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3F25F13-3340-4D8C-9949-3F1A8B1630DD}"/>
              </a:ext>
            </a:extLst>
          </p:cNvPr>
          <p:cNvSpPr/>
          <p:nvPr/>
        </p:nvSpPr>
        <p:spPr>
          <a:xfrm>
            <a:off x="4849212" y="5749588"/>
            <a:ext cx="1246788" cy="1097153"/>
          </a:xfrm>
          <a:prstGeom prst="ellipse">
            <a:avLst/>
          </a:prstGeom>
          <a:blipFill dpi="0" rotWithShape="1">
            <a:blip r:embed="rId2"/>
            <a:srcRect/>
            <a:stretch>
              <a:fillRect l="-64901" t="-609" r="-84481" b="-44381"/>
            </a:stretch>
          </a:blipFill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68C2DC-78D9-4539-80ED-ECD0EABCE9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5727249"/>
            <a:ext cx="1471982" cy="109729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505528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9BC51-7CEE-4F50-87F8-ED22DF373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TOOLS USED</a:t>
            </a:r>
            <a:b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F4813-19C9-4ED3-9AFA-838D1C862EF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909447" y="2114211"/>
            <a:ext cx="10018713" cy="4610781"/>
          </a:xfrm>
        </p:spPr>
        <p:txBody>
          <a:bodyPr/>
          <a:lstStyle/>
          <a:p>
            <a:pPr marR="0" lvl="0">
              <a:lnSpc>
                <a:spcPct val="150000"/>
              </a:lnSpc>
              <a:buSzPct val="15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1800" b="1" dirty="0">
                <a:ln w="0"/>
                <a:solidFill>
                  <a:srgbClr val="022003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Microsoft Excel </a:t>
            </a:r>
            <a:r>
              <a:rPr lang="en-US" sz="1800" dirty="0">
                <a:ln w="0"/>
                <a:solidFill>
                  <a:srgbClr val="022003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– Data cleaning and structuring.</a:t>
            </a:r>
          </a:p>
          <a:p>
            <a:pPr marR="0" lvl="0">
              <a:lnSpc>
                <a:spcPct val="150000"/>
              </a:lnSpc>
              <a:buSzPct val="15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endParaRPr lang="en-US" sz="1800" dirty="0">
              <a:ln w="0"/>
              <a:solidFill>
                <a:srgbClr val="022003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R="0" lvl="0">
              <a:lnSpc>
                <a:spcPct val="150000"/>
              </a:lnSpc>
              <a:buSzPct val="15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endParaRPr lang="en-US" sz="1800" dirty="0">
              <a:ln w="0"/>
              <a:solidFill>
                <a:srgbClr val="022003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R="0" lvl="0">
              <a:lnSpc>
                <a:spcPct val="150000"/>
              </a:lnSpc>
              <a:buSzPct val="15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1800" b="1" dirty="0">
                <a:ln w="0"/>
                <a:solidFill>
                  <a:srgbClr val="022003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SQL Server </a:t>
            </a:r>
            <a:r>
              <a:rPr lang="en-US" sz="1800" dirty="0">
                <a:ln w="0"/>
                <a:solidFill>
                  <a:srgbClr val="022003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– Data aggregation, joins, and transformation.</a:t>
            </a:r>
          </a:p>
          <a:p>
            <a:pPr marL="0" marR="0" lvl="0" indent="0">
              <a:lnSpc>
                <a:spcPct val="150000"/>
              </a:lnSpc>
              <a:buSzPct val="150000"/>
              <a:buNone/>
              <a:tabLst>
                <a:tab pos="457200" algn="l"/>
              </a:tabLst>
            </a:pPr>
            <a:endParaRPr lang="en-US" sz="1800" dirty="0">
              <a:ln w="0"/>
              <a:solidFill>
                <a:srgbClr val="022003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R="0" lvl="0">
              <a:lnSpc>
                <a:spcPct val="150000"/>
              </a:lnSpc>
              <a:buSzPct val="15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endParaRPr lang="en-US" sz="1800" dirty="0">
              <a:ln w="0"/>
              <a:solidFill>
                <a:srgbClr val="022003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R="0" lvl="0">
              <a:lnSpc>
                <a:spcPct val="150000"/>
              </a:lnSpc>
              <a:buSzPct val="15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1800" b="1" dirty="0">
                <a:ln w="0"/>
                <a:solidFill>
                  <a:srgbClr val="022003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Power BI </a:t>
            </a:r>
            <a:r>
              <a:rPr lang="en-US" sz="1800" dirty="0">
                <a:ln w="0"/>
                <a:solidFill>
                  <a:srgbClr val="022003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– Visualization, interactive dashboards, and maps. </a:t>
            </a:r>
          </a:p>
          <a:p>
            <a:pPr marR="0" lvl="0">
              <a:lnSpc>
                <a:spcPct val="150000"/>
              </a:lnSpc>
              <a:buSzPct val="15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endParaRPr lang="en-US" sz="1800" dirty="0">
              <a:ln w="0"/>
              <a:solidFill>
                <a:srgbClr val="022003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9ED4CFA-CB8C-4AC8-AA37-C85B8DD78154}"/>
              </a:ext>
            </a:extLst>
          </p:cNvPr>
          <p:cNvSpPr/>
          <p:nvPr/>
        </p:nvSpPr>
        <p:spPr>
          <a:xfrm>
            <a:off x="1965075" y="1725869"/>
            <a:ext cx="1018095" cy="998196"/>
          </a:xfrm>
          <a:prstGeom prst="ellipse">
            <a:avLst/>
          </a:prstGeom>
          <a:blipFill rotWithShape="1">
            <a:blip r:embed="rId2"/>
            <a:srcRect/>
            <a:stretch>
              <a:fillRect/>
            </a:stretch>
          </a:blipFill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01C114F-E06B-46A3-8C7F-DB523DCE3ADB}"/>
              </a:ext>
            </a:extLst>
          </p:cNvPr>
          <p:cNvSpPr/>
          <p:nvPr/>
        </p:nvSpPr>
        <p:spPr>
          <a:xfrm>
            <a:off x="1965075" y="3367711"/>
            <a:ext cx="1018095" cy="998197"/>
          </a:xfrm>
          <a:prstGeom prst="ellipse">
            <a:avLst/>
          </a:prstGeom>
          <a:blipFill rotWithShape="1">
            <a:blip r:embed="rId3"/>
            <a:srcRect/>
            <a:stretch>
              <a:fillRect t="-16000" b="-16000"/>
            </a:stretch>
          </a:blipFill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CFC5D34-8393-413B-83B5-46F31C3B24AC}"/>
              </a:ext>
            </a:extLst>
          </p:cNvPr>
          <p:cNvSpPr/>
          <p:nvPr/>
        </p:nvSpPr>
        <p:spPr>
          <a:xfrm>
            <a:off x="1965075" y="5009554"/>
            <a:ext cx="1018095" cy="998197"/>
          </a:xfrm>
          <a:prstGeom prst="ellipse">
            <a:avLst/>
          </a:prstGeom>
          <a:blipFill rotWithShape="1">
            <a:blip r:embed="rId4"/>
            <a:srcRect/>
            <a:stretch>
              <a:fillRect/>
            </a:stretch>
          </a:blipFill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</p:spTree>
    <p:extLst>
      <p:ext uri="{BB962C8B-B14F-4D97-AF65-F5344CB8AC3E}">
        <p14:creationId xmlns:p14="http://schemas.microsoft.com/office/powerpoint/2010/main" val="12887333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5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B9C2D-DEC7-4516-AF9F-2A95E0834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ANALYSIS PROCESS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36F825A-1222-4619-BC77-3F84B55ED2DE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1577788" y="2249361"/>
            <a:ext cx="9502719" cy="29392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Pct val="15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22003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Cleaned and merged datasets using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22003"/>
                </a:solidFill>
                <a:effectLst/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STATEID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22003"/>
                </a:solidFill>
                <a:effectLst/>
                <a:ea typeface="Times New Roman" panose="02020603050405020304" pitchFamily="18" charset="0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22003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Pct val="15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22003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Performed SQL queries to calculate totals, ranks, and trends.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Pct val="15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22003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Created views for causes, casualties, and severity.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Pct val="15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22003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Built dashboards using Power BI.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22003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Pct val="15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22003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Generated actionable insights and recommendations.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22003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lang="en-US" altLang="en-US" sz="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lang="en-US" altLang="en-US" sz="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52774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ACD37-4C75-417C-B803-0EBC88CF2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KEY FINDINGS</a:t>
            </a:r>
            <a:b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294CA3-002F-4C47-9FB5-B39A1A8B77E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10235" y="2063396"/>
            <a:ext cx="9870272" cy="3311189"/>
          </a:xfrm>
        </p:spPr>
        <p:txBody>
          <a:bodyPr/>
          <a:lstStyle/>
          <a:p>
            <a:pPr marR="0" lvl="0">
              <a:lnSpc>
                <a:spcPct val="150000"/>
              </a:lnSpc>
              <a:buSzPct val="15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1800" b="1" dirty="0">
                <a:solidFill>
                  <a:srgbClr val="02200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FCT</a:t>
            </a:r>
            <a:r>
              <a:rPr lang="en-US" sz="1800" dirty="0">
                <a:solidFill>
                  <a:srgbClr val="02200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recorded the highest number of accidents in both 2023 and 2024.</a:t>
            </a:r>
          </a:p>
          <a:p>
            <a:pPr marR="0" lvl="0">
              <a:lnSpc>
                <a:spcPct val="150000"/>
              </a:lnSpc>
              <a:buSzPct val="15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1800" b="1" dirty="0">
                <a:solidFill>
                  <a:srgbClr val="02200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Serious accidents</a:t>
            </a:r>
            <a:r>
              <a:rPr lang="en-US" sz="1800" dirty="0">
                <a:solidFill>
                  <a:srgbClr val="02200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made up over 50% of total cases.</a:t>
            </a:r>
          </a:p>
          <a:p>
            <a:pPr marR="0" lvl="0">
              <a:lnSpc>
                <a:spcPct val="150000"/>
              </a:lnSpc>
              <a:buSzPct val="15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1800" b="1" dirty="0">
                <a:solidFill>
                  <a:srgbClr val="02200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Speed violation</a:t>
            </a:r>
            <a:r>
              <a:rPr lang="en-US" sz="1800" dirty="0">
                <a:solidFill>
                  <a:srgbClr val="02200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caused 40–45% of total accidents.</a:t>
            </a:r>
          </a:p>
          <a:p>
            <a:pPr marR="0" lvl="0">
              <a:lnSpc>
                <a:spcPct val="150000"/>
              </a:lnSpc>
              <a:buSzPct val="15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1800" b="1" dirty="0">
                <a:solidFill>
                  <a:srgbClr val="02200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Q2</a:t>
            </a:r>
            <a:r>
              <a:rPr lang="en-US" sz="1800" dirty="0">
                <a:solidFill>
                  <a:srgbClr val="02200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consistently recorded the highest accident frequency.</a:t>
            </a:r>
          </a:p>
          <a:p>
            <a:pPr>
              <a:lnSpc>
                <a:spcPct val="150000"/>
              </a:lnSpc>
              <a:buSzPct val="150000"/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02200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Ogun, Kaduna, Nasarawa and Oyo </a:t>
            </a:r>
            <a:r>
              <a:rPr lang="en-US" sz="1800" dirty="0">
                <a:solidFill>
                  <a:srgbClr val="02200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are also among the top accident-prone states.</a:t>
            </a:r>
            <a:endParaRPr lang="en-US" dirty="0">
              <a:solidFill>
                <a:srgbClr val="022003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37827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0C18A-7732-44A0-A694-09041540E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7064" y="479614"/>
            <a:ext cx="10018713" cy="1537446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DASHBOARD 1 – ROAD ACCIDENTS OVERVIEW</a:t>
            </a:r>
            <a:b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C66C20-F1B8-492F-902D-324D008C8D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33301" y="2017060"/>
            <a:ext cx="3258018" cy="3913870"/>
          </a:xfrm>
        </p:spPr>
        <p:txBody>
          <a:bodyPr>
            <a:normAutofit fontScale="85000" lnSpcReduction="20000"/>
          </a:bodyPr>
          <a:lstStyle/>
          <a:p>
            <a:pPr marL="0" marR="0" indent="0">
              <a:buNone/>
            </a:pPr>
            <a:r>
              <a:rPr lang="en-US" sz="1800" b="1" dirty="0">
                <a:solidFill>
                  <a:srgbClr val="02200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Visuals:</a:t>
            </a:r>
            <a:endParaRPr lang="en-US" sz="1800" dirty="0">
              <a:solidFill>
                <a:srgbClr val="022003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R="0" lvl="0"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800" dirty="0">
                <a:solidFill>
                  <a:srgbClr val="02200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Bar Chart: Total accidents per state</a:t>
            </a:r>
          </a:p>
          <a:p>
            <a:pPr marR="0" lvl="0"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800" dirty="0">
                <a:solidFill>
                  <a:srgbClr val="02200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Line Chart: Severity trends by </a:t>
            </a:r>
            <a:r>
              <a:rPr lang="en-US" dirty="0">
                <a:solidFill>
                  <a:srgbClr val="02200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year-</a:t>
            </a:r>
            <a:r>
              <a:rPr lang="en-US" sz="1800" dirty="0">
                <a:solidFill>
                  <a:srgbClr val="02200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quarter</a:t>
            </a:r>
          </a:p>
          <a:p>
            <a:pPr marR="0" lvl="0"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800" dirty="0">
                <a:solidFill>
                  <a:srgbClr val="02200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Clustered Bar: Fatal, Serious, Minor per state</a:t>
            </a:r>
          </a:p>
          <a:p>
            <a:pPr marR="0" lvl="0"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800" dirty="0">
                <a:solidFill>
                  <a:srgbClr val="02200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Nigeria Map: Total accidents per state (based on color saturation)</a:t>
            </a:r>
          </a:p>
          <a:p>
            <a:pPr marL="0" marR="0" lvl="0" indent="0">
              <a:buSzPts val="1000"/>
              <a:buNone/>
              <a:tabLst>
                <a:tab pos="457200" algn="l"/>
              </a:tabLst>
            </a:pPr>
            <a:endParaRPr lang="en-US" sz="1800" dirty="0">
              <a:solidFill>
                <a:srgbClr val="022003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marR="0" indent="0">
              <a:buNone/>
            </a:pPr>
            <a:r>
              <a:rPr lang="en-US" sz="1800" b="1" dirty="0">
                <a:solidFill>
                  <a:srgbClr val="02200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Insight:</a:t>
            </a:r>
            <a:br>
              <a:rPr lang="en-US" sz="1800" dirty="0">
                <a:solidFill>
                  <a:srgbClr val="02200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800" dirty="0">
                <a:solidFill>
                  <a:srgbClr val="02200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This dashboard highlights the accident distribution across states and shows how severity levels have changed over time.</a:t>
            </a:r>
          </a:p>
          <a:p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9609E12-9D98-4BBA-AE4F-6FEBD50ADF8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1319" y="2017060"/>
            <a:ext cx="7700682" cy="4840940"/>
          </a:xfrm>
        </p:spPr>
      </p:pic>
    </p:spTree>
    <p:extLst>
      <p:ext uri="{BB962C8B-B14F-4D97-AF65-F5344CB8AC3E}">
        <p14:creationId xmlns:p14="http://schemas.microsoft.com/office/powerpoint/2010/main" val="35731765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507CA-75A9-4D5C-B1D9-9CE4162BC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327212"/>
            <a:ext cx="10018713" cy="1456765"/>
          </a:xfrm>
        </p:spPr>
        <p:txBody>
          <a:bodyPr>
            <a:normAutofit/>
          </a:bodyPr>
          <a:lstStyle/>
          <a:p>
            <a:r>
              <a:rPr lang="en-US" sz="36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DASHBOARD 2 – CASUALTIES &amp; PEOPLE INVOLVED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FAF17-2E31-44C4-8064-840169702A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78123" y="1929909"/>
            <a:ext cx="3329736" cy="4007223"/>
          </a:xfrm>
        </p:spPr>
        <p:txBody>
          <a:bodyPr>
            <a:normAutofit fontScale="85000" lnSpcReduction="10000"/>
          </a:bodyPr>
          <a:lstStyle/>
          <a:p>
            <a:pPr marL="0" marR="0" indent="0">
              <a:buNone/>
            </a:pPr>
            <a:r>
              <a:rPr lang="en-US" sz="1800" b="1" dirty="0">
                <a:solidFill>
                  <a:srgbClr val="02200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Visuals:</a:t>
            </a:r>
            <a:endParaRPr lang="en-US" sz="1800" dirty="0">
              <a:solidFill>
                <a:srgbClr val="022003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R="0" lvl="0"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800" dirty="0">
                <a:solidFill>
                  <a:srgbClr val="02200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Bar Chart: Casualties by state</a:t>
            </a:r>
          </a:p>
          <a:p>
            <a:pPr marR="0" lvl="0"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800" dirty="0">
                <a:solidFill>
                  <a:srgbClr val="02200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Pie Chart: Total Casualties vs People killed</a:t>
            </a:r>
          </a:p>
          <a:p>
            <a:pPr marR="0" lvl="0"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800" dirty="0">
                <a:solidFill>
                  <a:srgbClr val="02200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Card visuals: National totals (Injured, Killed, Involved)</a:t>
            </a:r>
          </a:p>
          <a:p>
            <a:pPr marR="0" lvl="0"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800" dirty="0">
                <a:solidFill>
                  <a:srgbClr val="02200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Bar chart: Total people involved per state </a:t>
            </a:r>
          </a:p>
          <a:p>
            <a:pPr marL="0" marR="0" lvl="0" indent="0">
              <a:buSzPts val="1000"/>
              <a:buNone/>
              <a:tabLst>
                <a:tab pos="457200" algn="l"/>
              </a:tabLst>
            </a:pPr>
            <a:endParaRPr lang="en-US" sz="1800" dirty="0">
              <a:solidFill>
                <a:srgbClr val="022003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marR="0" lvl="0" indent="0">
              <a:buSzPts val="1000"/>
              <a:buNone/>
              <a:tabLst>
                <a:tab pos="457200" algn="l"/>
              </a:tabLst>
            </a:pPr>
            <a:r>
              <a:rPr lang="en-US" sz="1800" b="1" dirty="0">
                <a:solidFill>
                  <a:srgbClr val="02200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Insight:</a:t>
            </a:r>
            <a:br>
              <a:rPr lang="en-US" sz="1800" dirty="0">
                <a:solidFill>
                  <a:srgbClr val="02200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800" dirty="0">
                <a:solidFill>
                  <a:srgbClr val="02200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Reveals which states had the highest number of injuries and deaths, and provides an overview of total people affected.</a:t>
            </a:r>
          </a:p>
          <a:p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3E72700-B226-4260-8916-7B99BF6E0D3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7859" y="1929909"/>
            <a:ext cx="7584141" cy="4928091"/>
          </a:xfrm>
        </p:spPr>
      </p:pic>
    </p:spTree>
    <p:extLst>
      <p:ext uri="{BB962C8B-B14F-4D97-AF65-F5344CB8AC3E}">
        <p14:creationId xmlns:p14="http://schemas.microsoft.com/office/powerpoint/2010/main" val="10163365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9E50E-73BB-4313-933A-E477DC965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3" y="190500"/>
            <a:ext cx="10018713" cy="1752599"/>
          </a:xfrm>
        </p:spPr>
        <p:txBody>
          <a:bodyPr>
            <a:normAutofit/>
          </a:bodyPr>
          <a:lstStyle/>
          <a:p>
            <a:r>
              <a:rPr lang="en-US" sz="36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DASHBOARD 3 – TOP CAUSES OF ACCIDENTS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1B4346-FDB0-457B-8562-EFA957773D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76922" y="2122208"/>
            <a:ext cx="3455334" cy="3643852"/>
          </a:xfrm>
        </p:spPr>
        <p:txBody>
          <a:bodyPr>
            <a:normAutofit fontScale="85000" lnSpcReduction="10000"/>
          </a:bodyPr>
          <a:lstStyle/>
          <a:p>
            <a:pPr marL="0" marR="0" indent="0">
              <a:buNone/>
            </a:pPr>
            <a:r>
              <a:rPr lang="en-US" sz="1800" b="1" dirty="0">
                <a:solidFill>
                  <a:srgbClr val="02200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Visuals:</a:t>
            </a:r>
            <a:endParaRPr lang="en-US" sz="1800" dirty="0">
              <a:solidFill>
                <a:srgbClr val="022003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R="0" lvl="0"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800" dirty="0">
                <a:solidFill>
                  <a:srgbClr val="02200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Line Chart: Top causes by quarter</a:t>
            </a:r>
          </a:p>
          <a:p>
            <a:pPr marR="0" lvl="0"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800" dirty="0">
                <a:solidFill>
                  <a:srgbClr val="02200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Bar Chart: National cause frequency</a:t>
            </a:r>
          </a:p>
          <a:p>
            <a:pPr marR="0" lvl="0"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800" dirty="0">
                <a:solidFill>
                  <a:srgbClr val="02200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Matrix: Top 5 causes per state and quarter</a:t>
            </a:r>
          </a:p>
          <a:p>
            <a:pPr marR="0" lvl="0"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800" dirty="0">
                <a:solidFill>
                  <a:srgbClr val="02200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Slicers: For Year, Quarter, State</a:t>
            </a:r>
          </a:p>
          <a:p>
            <a:pPr marL="0" marR="0" indent="0">
              <a:buNone/>
            </a:pPr>
            <a:endParaRPr lang="en-US" sz="1800" b="1" dirty="0">
              <a:solidFill>
                <a:srgbClr val="022003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marR="0" indent="0">
              <a:buNone/>
            </a:pPr>
            <a:r>
              <a:rPr lang="en-US" sz="1800" b="1" dirty="0">
                <a:solidFill>
                  <a:srgbClr val="02200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Insight:</a:t>
            </a:r>
            <a:br>
              <a:rPr lang="en-US" sz="1800" dirty="0">
                <a:solidFill>
                  <a:srgbClr val="02200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800" dirty="0">
                <a:solidFill>
                  <a:srgbClr val="02200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Speed Violation leads as the top cause nationwide. Matrix view helps track how leading causes differ per state and time.</a:t>
            </a:r>
          </a:p>
          <a:p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FD02E95-15B4-4D56-BC42-81ECED18A32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2256" y="1943099"/>
            <a:ext cx="7459745" cy="4914901"/>
          </a:xfrm>
        </p:spPr>
      </p:pic>
    </p:spTree>
    <p:extLst>
      <p:ext uri="{BB962C8B-B14F-4D97-AF65-F5344CB8AC3E}">
        <p14:creationId xmlns:p14="http://schemas.microsoft.com/office/powerpoint/2010/main" val="25271701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AF19B-460E-44C3-9175-2684D8922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8897" y="250883"/>
            <a:ext cx="10018713" cy="1549637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REFERENCE TABLE FOR ROAD ACCIDENT CAUSES </a:t>
            </a: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15E2240D-E205-4899-9CB0-0A02BA430C44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158696652"/>
              </p:ext>
            </p:extLst>
          </p:nvPr>
        </p:nvGraphicFramePr>
        <p:xfrm>
          <a:off x="3323203" y="1469860"/>
          <a:ext cx="6190099" cy="53881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48732">
                  <a:extLst>
                    <a:ext uri="{9D8B030D-6E8A-4147-A177-3AD203B41FA5}">
                      <a16:colId xmlns:a16="http://schemas.microsoft.com/office/drawing/2014/main" val="3747148121"/>
                    </a:ext>
                  </a:extLst>
                </a:gridCol>
                <a:gridCol w="4441367">
                  <a:extLst>
                    <a:ext uri="{9D8B030D-6E8A-4147-A177-3AD203B41FA5}">
                      <a16:colId xmlns:a16="http://schemas.microsoft.com/office/drawing/2014/main" val="3189796566"/>
                    </a:ext>
                  </a:extLst>
                </a:gridCol>
              </a:tblGrid>
              <a:tr h="327962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ACRONYM</a:t>
                      </a:r>
                      <a:endParaRPr lang="en-US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5511" marR="4551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FULL MEANING</a:t>
                      </a:r>
                      <a:endParaRPr lang="en-US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5511" marR="45511" marT="0" marB="0"/>
                </a:tc>
                <a:extLst>
                  <a:ext uri="{0D108BD9-81ED-4DB2-BD59-A6C34878D82A}">
                    <a16:rowId xmlns:a16="http://schemas.microsoft.com/office/drawing/2014/main" val="3696765798"/>
                  </a:ext>
                </a:extLst>
              </a:tr>
              <a:tr h="281121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SPV</a:t>
                      </a:r>
                      <a:endParaRPr lang="en-US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5511" marR="4551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Speed Violation</a:t>
                      </a:r>
                      <a:endParaRPr lang="en-US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5511" marR="45511" marT="0" marB="0"/>
                </a:tc>
                <a:extLst>
                  <a:ext uri="{0D108BD9-81ED-4DB2-BD59-A6C34878D82A}">
                    <a16:rowId xmlns:a16="http://schemas.microsoft.com/office/drawing/2014/main" val="2214111700"/>
                  </a:ext>
                </a:extLst>
              </a:tr>
              <a:tr h="281121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UPD</a:t>
                      </a:r>
                      <a:endParaRPr lang="en-US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5511" marR="4551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Use of Phone while Driving</a:t>
                      </a:r>
                      <a:endParaRPr lang="en-US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5511" marR="45511" marT="0" marB="0"/>
                </a:tc>
                <a:extLst>
                  <a:ext uri="{0D108BD9-81ED-4DB2-BD59-A6C34878D82A}">
                    <a16:rowId xmlns:a16="http://schemas.microsoft.com/office/drawing/2014/main" val="766109289"/>
                  </a:ext>
                </a:extLst>
              </a:tr>
              <a:tr h="281121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TBT</a:t>
                      </a:r>
                      <a:endParaRPr lang="en-US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5511" marR="4551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Tyre Burst</a:t>
                      </a:r>
                      <a:endParaRPr lang="en-US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5511" marR="45511" marT="0" marB="0"/>
                </a:tc>
                <a:extLst>
                  <a:ext uri="{0D108BD9-81ED-4DB2-BD59-A6C34878D82A}">
                    <a16:rowId xmlns:a16="http://schemas.microsoft.com/office/drawing/2014/main" val="1699989926"/>
                  </a:ext>
                </a:extLst>
              </a:tr>
              <a:tr h="281121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MDV</a:t>
                      </a:r>
                      <a:endParaRPr lang="en-US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5511" marR="4551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Mechanically Deficient Vehicle</a:t>
                      </a:r>
                      <a:endParaRPr lang="en-US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5511" marR="45511" marT="0" marB="0"/>
                </a:tc>
                <a:extLst>
                  <a:ext uri="{0D108BD9-81ED-4DB2-BD59-A6C34878D82A}">
                    <a16:rowId xmlns:a16="http://schemas.microsoft.com/office/drawing/2014/main" val="1705393562"/>
                  </a:ext>
                </a:extLst>
              </a:tr>
              <a:tr h="281121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BFL</a:t>
                      </a:r>
                      <a:endParaRPr lang="en-US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5511" marR="4551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Brake Failure</a:t>
                      </a:r>
                      <a:endParaRPr lang="en-US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5511" marR="45511" marT="0" marB="0"/>
                </a:tc>
                <a:extLst>
                  <a:ext uri="{0D108BD9-81ED-4DB2-BD59-A6C34878D82A}">
                    <a16:rowId xmlns:a16="http://schemas.microsoft.com/office/drawing/2014/main" val="1457037227"/>
                  </a:ext>
                </a:extLst>
              </a:tr>
              <a:tr h="281121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OVL</a:t>
                      </a:r>
                      <a:endParaRPr lang="en-US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5511" marR="4551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Overloading</a:t>
                      </a:r>
                      <a:endParaRPr lang="en-US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5511" marR="45511" marT="0" marB="0"/>
                </a:tc>
                <a:extLst>
                  <a:ext uri="{0D108BD9-81ED-4DB2-BD59-A6C34878D82A}">
                    <a16:rowId xmlns:a16="http://schemas.microsoft.com/office/drawing/2014/main" val="76836431"/>
                  </a:ext>
                </a:extLst>
              </a:tr>
              <a:tr h="281121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DOT</a:t>
                      </a:r>
                      <a:endParaRPr lang="en-US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5511" marR="4551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Dangerous Overtaking</a:t>
                      </a:r>
                      <a:endParaRPr lang="en-US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5511" marR="45511" marT="0" marB="0"/>
                </a:tc>
                <a:extLst>
                  <a:ext uri="{0D108BD9-81ED-4DB2-BD59-A6C34878D82A}">
                    <a16:rowId xmlns:a16="http://schemas.microsoft.com/office/drawing/2014/main" val="1179025041"/>
                  </a:ext>
                </a:extLst>
              </a:tr>
              <a:tr h="281121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WOT</a:t>
                      </a:r>
                      <a:endParaRPr lang="en-US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5511" marR="4551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Wrongful Overtaking</a:t>
                      </a:r>
                      <a:endParaRPr lang="en-US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5511" marR="45511" marT="0" marB="0"/>
                </a:tc>
                <a:extLst>
                  <a:ext uri="{0D108BD9-81ED-4DB2-BD59-A6C34878D82A}">
                    <a16:rowId xmlns:a16="http://schemas.microsoft.com/office/drawing/2014/main" val="113875488"/>
                  </a:ext>
                </a:extLst>
              </a:tr>
              <a:tr h="281121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DGD</a:t>
                      </a:r>
                      <a:endParaRPr lang="en-US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5511" marR="4551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Dangerous Driving</a:t>
                      </a:r>
                      <a:endParaRPr lang="en-US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5511" marR="45511" marT="0" marB="0"/>
                </a:tc>
                <a:extLst>
                  <a:ext uri="{0D108BD9-81ED-4DB2-BD59-A6C34878D82A}">
                    <a16:rowId xmlns:a16="http://schemas.microsoft.com/office/drawing/2014/main" val="2393719357"/>
                  </a:ext>
                </a:extLst>
              </a:tr>
              <a:tr h="281121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BRD</a:t>
                      </a:r>
                      <a:endParaRPr lang="en-US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5511" marR="4551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Bad Road</a:t>
                      </a:r>
                      <a:endParaRPr lang="en-US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5511" marR="45511" marT="0" marB="0"/>
                </a:tc>
                <a:extLst>
                  <a:ext uri="{0D108BD9-81ED-4DB2-BD59-A6C34878D82A}">
                    <a16:rowId xmlns:a16="http://schemas.microsoft.com/office/drawing/2014/main" val="3791906303"/>
                  </a:ext>
                </a:extLst>
              </a:tr>
              <a:tr h="281121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RTV</a:t>
                      </a:r>
                      <a:endParaRPr lang="en-US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5511" marR="4551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Route Violation</a:t>
                      </a:r>
                      <a:endParaRPr lang="en-US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5511" marR="45511" marT="0" marB="0"/>
                </a:tc>
                <a:extLst>
                  <a:ext uri="{0D108BD9-81ED-4DB2-BD59-A6C34878D82A}">
                    <a16:rowId xmlns:a16="http://schemas.microsoft.com/office/drawing/2014/main" val="182860385"/>
                  </a:ext>
                </a:extLst>
              </a:tr>
              <a:tr h="281121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OBS</a:t>
                      </a:r>
                      <a:endParaRPr lang="en-US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5511" marR="4551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Road Obstruction Violation</a:t>
                      </a:r>
                      <a:endParaRPr lang="en-US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5511" marR="45511" marT="0" marB="0"/>
                </a:tc>
                <a:extLst>
                  <a:ext uri="{0D108BD9-81ED-4DB2-BD59-A6C34878D82A}">
                    <a16:rowId xmlns:a16="http://schemas.microsoft.com/office/drawing/2014/main" val="1914697265"/>
                  </a:ext>
                </a:extLst>
              </a:tr>
              <a:tr h="281121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SOS</a:t>
                      </a:r>
                      <a:endParaRPr lang="en-US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5511" marR="4551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Sleeping on Steering</a:t>
                      </a:r>
                      <a:endParaRPr lang="en-US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5511" marR="45511" marT="0" marB="0"/>
                </a:tc>
                <a:extLst>
                  <a:ext uri="{0D108BD9-81ED-4DB2-BD59-A6C34878D82A}">
                    <a16:rowId xmlns:a16="http://schemas.microsoft.com/office/drawing/2014/main" val="3133581944"/>
                  </a:ext>
                </a:extLst>
              </a:tr>
              <a:tr h="281121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DAD</a:t>
                      </a:r>
                      <a:endParaRPr lang="en-US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5511" marR="4551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Drinking Under Alcohol/Drug Influence</a:t>
                      </a:r>
                      <a:endParaRPr lang="en-US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5511" marR="45511" marT="0" marB="0"/>
                </a:tc>
                <a:extLst>
                  <a:ext uri="{0D108BD9-81ED-4DB2-BD59-A6C34878D82A}">
                    <a16:rowId xmlns:a16="http://schemas.microsoft.com/office/drawing/2014/main" val="4214693519"/>
                  </a:ext>
                </a:extLst>
              </a:tr>
              <a:tr h="281121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PWR</a:t>
                      </a:r>
                      <a:endParaRPr lang="en-US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5511" marR="4551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Poor Weather</a:t>
                      </a:r>
                      <a:endParaRPr lang="en-US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5511" marR="45511" marT="0" marB="0"/>
                </a:tc>
                <a:extLst>
                  <a:ext uri="{0D108BD9-81ED-4DB2-BD59-A6C34878D82A}">
                    <a16:rowId xmlns:a16="http://schemas.microsoft.com/office/drawing/2014/main" val="818471001"/>
                  </a:ext>
                </a:extLst>
              </a:tr>
              <a:tr h="281121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FTQ</a:t>
                      </a:r>
                      <a:endParaRPr lang="en-US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5511" marR="4551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Fatigue</a:t>
                      </a:r>
                      <a:endParaRPr lang="en-US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5511" marR="45511" marT="0" marB="0"/>
                </a:tc>
                <a:extLst>
                  <a:ext uri="{0D108BD9-81ED-4DB2-BD59-A6C34878D82A}">
                    <a16:rowId xmlns:a16="http://schemas.microsoft.com/office/drawing/2014/main" val="567010723"/>
                  </a:ext>
                </a:extLst>
              </a:tr>
              <a:tr h="281121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SLV</a:t>
                      </a:r>
                      <a:endParaRPr lang="en-US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5511" marR="4551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Sign Light Violation</a:t>
                      </a:r>
                      <a:endParaRPr lang="en-US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5511" marR="45511" marT="0" marB="0"/>
                </a:tc>
                <a:extLst>
                  <a:ext uri="{0D108BD9-81ED-4DB2-BD59-A6C34878D82A}">
                    <a16:rowId xmlns:a16="http://schemas.microsoft.com/office/drawing/2014/main" val="395304146"/>
                  </a:ext>
                </a:extLst>
              </a:tr>
              <a:tr h="281121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OTH</a:t>
                      </a:r>
                      <a:endParaRPr lang="en-US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5511" marR="4551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Others</a:t>
                      </a:r>
                      <a:endParaRPr lang="en-US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5511" marR="45511" marT="0" marB="0"/>
                </a:tc>
                <a:extLst>
                  <a:ext uri="{0D108BD9-81ED-4DB2-BD59-A6C34878D82A}">
                    <a16:rowId xmlns:a16="http://schemas.microsoft.com/office/drawing/2014/main" val="31501447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02885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1EE99-8089-4637-B054-762201BCC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AC81BAF-66D6-4CCD-8CF5-19146B72EA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3286" y="685800"/>
            <a:ext cx="10018713" cy="6172200"/>
          </a:xfrm>
        </p:spPr>
      </p:pic>
    </p:spTree>
    <p:extLst>
      <p:ext uri="{BB962C8B-B14F-4D97-AF65-F5344CB8AC3E}">
        <p14:creationId xmlns:p14="http://schemas.microsoft.com/office/powerpoint/2010/main" val="32912072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EE5B633-73B9-423D-ADE9-8AC8CC906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37C83DD9-3F29-4FA1-8816-81B1BCBF1D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3286" y="685800"/>
            <a:ext cx="10018713" cy="6172200"/>
          </a:xfrm>
        </p:spPr>
      </p:pic>
    </p:spTree>
    <p:extLst>
      <p:ext uri="{BB962C8B-B14F-4D97-AF65-F5344CB8AC3E}">
        <p14:creationId xmlns:p14="http://schemas.microsoft.com/office/powerpoint/2010/main" val="35408045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1BDBB-DBE4-4B6F-9AC9-9114F2427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846CF1E-C9DE-49B3-9639-1A6CA97BC4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3287" y="685799"/>
            <a:ext cx="10018713" cy="6172201"/>
          </a:xfrm>
        </p:spPr>
      </p:pic>
    </p:spTree>
    <p:extLst>
      <p:ext uri="{BB962C8B-B14F-4D97-AF65-F5344CB8AC3E}">
        <p14:creationId xmlns:p14="http://schemas.microsoft.com/office/powerpoint/2010/main" val="281329844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F348F-F034-4A4F-81E6-7597C1A6A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RECOMMENDATIONS</a:t>
            </a:r>
            <a:b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E9AA33-BE6E-4232-AE09-92E46981C0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484311" y="2063396"/>
            <a:ext cx="9596196" cy="3311189"/>
          </a:xfrm>
        </p:spPr>
        <p:txBody>
          <a:bodyPr/>
          <a:lstStyle/>
          <a:p>
            <a:pPr marR="0" lvl="0">
              <a:lnSpc>
                <a:spcPct val="150000"/>
              </a:lnSpc>
              <a:buSzPct val="15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1800" dirty="0">
                <a:solidFill>
                  <a:srgbClr val="032F05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Install speed cameras in top 5 accident states.</a:t>
            </a:r>
          </a:p>
          <a:p>
            <a:pPr marR="0" lvl="0">
              <a:lnSpc>
                <a:spcPct val="150000"/>
              </a:lnSpc>
              <a:buSzPct val="15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1800" dirty="0">
                <a:solidFill>
                  <a:srgbClr val="032F05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Improve emergency services in high-fatality regions.</a:t>
            </a:r>
          </a:p>
          <a:p>
            <a:pPr marR="0" lvl="0">
              <a:lnSpc>
                <a:spcPct val="150000"/>
              </a:lnSpc>
              <a:buSzPct val="15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1800" dirty="0">
                <a:solidFill>
                  <a:srgbClr val="032F05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Rehabilitate roads in areas with frequent BRD and MDV cases.</a:t>
            </a:r>
          </a:p>
          <a:p>
            <a:pPr marR="0" lvl="0">
              <a:lnSpc>
                <a:spcPct val="150000"/>
              </a:lnSpc>
              <a:buSzPct val="15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1800" dirty="0">
                <a:solidFill>
                  <a:srgbClr val="032F05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Launch awareness campaigns during Q2 and Q4.</a:t>
            </a:r>
          </a:p>
          <a:p>
            <a:pPr marR="0" lvl="0">
              <a:lnSpc>
                <a:spcPct val="150000"/>
              </a:lnSpc>
              <a:buSzPct val="15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1800" dirty="0">
                <a:solidFill>
                  <a:srgbClr val="032F05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Promote real-time accident reporting systems.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62036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41150-6D64-4940-BEB0-196A81177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CONCLUSION</a:t>
            </a:r>
            <a:endParaRPr lang="en-US" sz="36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D00051-532D-4C59-9E6F-013D62D6940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47482" y="2063396"/>
            <a:ext cx="9933025" cy="3311189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rgbClr val="02200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This project demonstrates the value of data in addressing road safety. By identifying accident hotspots, top causes, and trends, stakeholders can take evidence-based actions to reduce road accidents and fatalities across Nigeria.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722500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65E9A-AB62-4685-B450-91FA18CD8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2384" y="261490"/>
            <a:ext cx="10018713" cy="3872753"/>
          </a:xfr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>
            <a:normAutofit/>
          </a:bodyPr>
          <a:lstStyle/>
          <a:p>
            <a:r>
              <a:rPr lang="en-US" sz="66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D4941-4BD2-4A90-9930-8C75B5E1D11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44388" y="4134243"/>
            <a:ext cx="10394707" cy="3311189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97276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Custom 6">
      <a:dk1>
        <a:srgbClr val="011303"/>
      </a:dk1>
      <a:lt1>
        <a:srgbClr val="BFBFBF"/>
      </a:lt1>
      <a:dk2>
        <a:srgbClr val="212121"/>
      </a:dk2>
      <a:lt2>
        <a:srgbClr val="D8D8D8"/>
      </a:lt2>
      <a:accent1>
        <a:srgbClr val="860000"/>
      </a:accent1>
      <a:accent2>
        <a:srgbClr val="F67534"/>
      </a:accent2>
      <a:accent3>
        <a:srgbClr val="EAAC35"/>
      </a:accent3>
      <a:accent4>
        <a:srgbClr val="9BAF68"/>
      </a:accent4>
      <a:accent5>
        <a:srgbClr val="68B9A6"/>
      </a:accent5>
      <a:accent6>
        <a:srgbClr val="50B1D4"/>
      </a:accent6>
      <a:hlink>
        <a:srgbClr val="E46416"/>
      </a:hlink>
      <a:folHlink>
        <a:srgbClr val="EE9340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93B4CCAC-FD5A-4D59-B1AC-EAF45910B5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274</TotalTime>
  <Words>734</Words>
  <Application>Microsoft Office PowerPoint</Application>
  <PresentationFormat>Widescreen</PresentationFormat>
  <Paragraphs>122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 Unicode MS</vt:lpstr>
      <vt:lpstr>Arial</vt:lpstr>
      <vt:lpstr>Calibri</vt:lpstr>
      <vt:lpstr>Corbel</vt:lpstr>
      <vt:lpstr>Tahoma</vt:lpstr>
      <vt:lpstr>Times New Roman</vt:lpstr>
      <vt:lpstr>Wingdings</vt:lpstr>
      <vt:lpstr>Parallax</vt:lpstr>
      <vt:lpstr> </vt:lpstr>
      <vt:lpstr>EXECUTIVE SUMMARY </vt:lpstr>
      <vt:lpstr>ACKNOWLEDGEMENT</vt:lpstr>
      <vt:lpstr>PROJECT OBJECTIVES</vt:lpstr>
      <vt:lpstr>DATA OVERVIEW</vt:lpstr>
      <vt:lpstr>TOOLS USED </vt:lpstr>
      <vt:lpstr>ANALYSIS PROCESS</vt:lpstr>
      <vt:lpstr>KEY FINDINGS </vt:lpstr>
      <vt:lpstr>DASHBOARD 1 – ROAD ACCIDENTS OVERVIEW </vt:lpstr>
      <vt:lpstr>DASHBOARD 2 – CASUALTIES &amp; PEOPLE INVOLVED</vt:lpstr>
      <vt:lpstr>DASHBOARD 3 – TOP CAUSES OF ACCIDENTS</vt:lpstr>
      <vt:lpstr>REFERENCE TABLE FOR ROAD ACCIDENT CAUSES  </vt:lpstr>
      <vt:lpstr>PowerPoint Presentation</vt:lpstr>
      <vt:lpstr>PowerPoint Presentation</vt:lpstr>
      <vt:lpstr>PowerPoint Presentation</vt:lpstr>
      <vt:lpstr>RECOMMENDATIONS 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Emmanuel Alih</dc:creator>
  <cp:lastModifiedBy>Emmanuel Alih</cp:lastModifiedBy>
  <cp:revision>23</cp:revision>
  <dcterms:created xsi:type="dcterms:W3CDTF">2025-06-24T10:38:12Z</dcterms:created>
  <dcterms:modified xsi:type="dcterms:W3CDTF">2025-06-24T15:12:17Z</dcterms:modified>
</cp:coreProperties>
</file>